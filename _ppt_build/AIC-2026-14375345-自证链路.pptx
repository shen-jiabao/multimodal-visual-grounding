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37160"/>
            <a:ext cx="2103120" cy="2103120"/>
          </a:xfrm>
          <a:prstGeom prst="ellipse">
            <a:avLst/>
          </a:prstGeom>
          <a:solidFill>
            <a:srgbClr val="123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063240"/>
            <a:ext cx="1783080" cy="1783080"/>
          </a:xfrm>
          <a:prstGeom prst="ellipse">
            <a:avLst/>
          </a:prstGeom>
          <a:solidFill>
            <a:srgbClr val="103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 证 链 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从赛事数据 → 自研代码 → 产物 → 榜单结果文件的完整可核验证据链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6974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E3A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线上成绩  </a:t>
            </a:r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ACC@0.5 = 0.7963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4564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全球校园人工智能算法精英大赛 · 算法挑战赛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基于大模型的多模态视觉理解与推理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参赛团队编号 AIC-2026-14375345　｜　熬夜炼丹师　｜　队长 沈嘉宝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　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251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961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2728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自证目标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2728" y="180136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三条可独立核验的主张：归属 · 可复算 · 自主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37160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137251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9961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59552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交付件指纹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59552" y="180136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0.7963 结果文件的唯一身份与产生方式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6979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52728" y="25877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全流程链路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52728" y="28986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步：从数据接入到交付归档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18304" y="246888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18304" y="246979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59552" y="25877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证据链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59552" y="28986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服务器日志原文 · 文件时间戳 · 会话时间线 · 可复算 · 同源指纹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56707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69417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2728" y="3685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反证与核验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52728" y="39959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排除五类质疑 + 一键自检 SOP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18304" y="356616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356707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9417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59552" y="3685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结论与合规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59552" y="39959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结论、合规声明与复现边界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自证目标：把「是我们做的」拆成三条可核验主张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INDEPENDENTLY VERIFIABLE CLAIMS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45082"/>
            <a:ext cx="50292" cy="239389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54533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30936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成绩归属本队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0936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赛事平台的提交谱系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每版提交的得分 + SHA256 + 读数链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20+ 次、初赛 12 次提交连续可查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被否件与测量件一并如实留档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0024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0024" y="1345082"/>
            <a:ext cx="50292" cy="239389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9480" y="1545336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9480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B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459480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结果可由本队代码产生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59480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离线确定性复算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9480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逐条重建交付件（已实测一致）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六桶互斥装配器 + 20 项硬断言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八组受控夹具回归全过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68568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8568" y="1345082"/>
            <a:ext cx="50292" cy="239389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8024" y="1545336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8024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6288024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过程由本队自主推进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88024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过程痕迹与现场物证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8024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判据预登记 17 份（写于跑之前）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云端实例现场证据 + 运维脚本归档 246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环境实录、权重指纹、消融复盘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90448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04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三条同时成立 ⇒ 该结果文件是本队自主设计与实现的产物，非转载、非他人作品、无人工标注。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交付件指纹：唯一的身份与产生方式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DELIVERABLE — IDENTITY &amp; PROVENANCE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932688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93085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53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result_semi_q38_nonord.zip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　FB6C2E471A4F5E8907318FF540A5CAABAEC17A29ECAFC17EB651F512A4AE8F35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05786"/>
            <a:ext cx="50292" cy="93085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ACC@0.5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32888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2405786"/>
            <a:ext cx="50292" cy="93085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5690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532888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提交条数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4296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2405786"/>
            <a:ext cx="50292" cy="93085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654296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本次替换框数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75704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75704" y="2405786"/>
            <a:ext cx="50292" cy="930859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7F4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+101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775704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净增正确条数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483864"/>
            <a:ext cx="8321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484778"/>
            <a:ext cx="50292" cy="78455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557016"/>
            <a:ext cx="7808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　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开源大模型零样本直接定位 ＋ 确定性规则管序数（不依赖模型猜序数）＋ 六桶互斥装配器出件</a:t>
            </a:r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交付件来源　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L6：Qwen3.8-27B 单变量重跑非序数 4587 条 ⇒ 替换 519 处、净 +101 条（19.4%，8.8σ，非噪声）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全流程链路：14 步，从数据接入到交付归档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PIPELINE — 14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键集确认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75104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8256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59152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格式勘查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48256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两子群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38728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22776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11880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1103 / 4587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02352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5504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5504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8B 全量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75504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0.7459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65976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9128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0024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补框链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39128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零空框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1480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5528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序数规则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0.7598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975104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48256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8256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59152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停损判定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48256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封口负向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538728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22776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32B-AWQ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11880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0.7742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102352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75504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75504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86400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同机制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75504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0.7766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665976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39128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39128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50024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· bf16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39128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0.7786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11480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4E0"/>
          </a:solidFill>
          <a:ln w="20320">
            <a:solidFill>
              <a:srgbClr val="F2A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95528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 · Qwen3.8-27B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4632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975104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48256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48256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359152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六桶装配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048256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 处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538728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1880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11880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922776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硬约束校验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4/4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102352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75504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75504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86400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交付归档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175504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本包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202168" y="15453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202168" y="25054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11480" y="44394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每一步都留下：命令 · 产物 · SHA256 指纹 · 时间戳（详见《全流程逐步实录_模型与提示词.md》）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提交谱系：每一版都留下得分与指纹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 LINEAGE — SCORE &amp; HASH PER VERSION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06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0.4378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24712" y="1362456"/>
            <a:ext cx="457200" cy="292608"/>
          </a:xfrm>
          <a:prstGeom prst="roundRect">
            <a:avLst>
              <a:gd name="adj" fmla="val 9375"/>
            </a:avLst>
          </a:prstGeom>
          <a:solidFill>
            <a:srgbClr val="C060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 三模态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0.7459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24712" y="1819656"/>
            <a:ext cx="2767546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 全量 + 补框链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0.7598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24712" y="2276856"/>
            <a:ext cx="2878760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序数确定性规则链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+79 序数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0.7742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24712" y="2734056"/>
            <a:ext cx="2993974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32B-AWQ 重跑非序数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1546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0.7766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24712" y="3191256"/>
            <a:ext cx="3013177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序数同机制替换 B′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118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0.7786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24712" y="3648456"/>
            <a:ext cx="3029179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32B bf16 精度修复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069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24712" y="4105656"/>
            <a:ext cx="3170796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 跨代换模型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★交付件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1325880"/>
            <a:ext cx="2697480" cy="3127248"/>
          </a:xfrm>
          <a:prstGeom prst="roundRect">
            <a:avLst>
              <a:gd name="adj" fmla="val 2034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326794"/>
            <a:ext cx="50292" cy="312541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谱系的两个特点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54496" y="1856232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不只报喜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被否件（0.4378 / 0.7541 / 0.7566 / 0.7592 / 0.7729 / 0.7492 …）与测量件全部留档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数字互相约束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0.7963×5690 = 4531 = 非序数 3842 + 序数 689；每级都满足该恒等式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初赛阶段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12 次提交 0.6693 → 0.7827，同样逐版留得分与 SHA256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平台侧证据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读数口径：1 条 = 0.000176；测量件按历史最高分记录，因此不拉低成绩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证据① 服务器文件时间戳：q38 全链纳秒级 mtime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1 — SERVER FILE TIMESTAMPS (full-iso, read-only stat)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1_服务器文件时间戳_1600x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7498080" cy="32753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5079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来源：远端实例 /root/rivermind-data 只读 stat 采集（未修改任何文件）；原始采集文本随包：远端现场证据/服务器取证/服务器取证_20261015.txt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证据② 服务器日志原文：权重逐片「大小 + sha256」双验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2 — q38_dl.log (18 SHARDS, DUAL-VERIFIED)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2_权重下载双验日志_1600x4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8321040" cy="2438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721608"/>
            <a:ext cx="8321040" cy="877824"/>
          </a:xfrm>
          <a:prstGeom prst="roundRect">
            <a:avLst>
              <a:gd name="adj" fmla="val 6250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722522"/>
            <a:ext cx="50292" cy="87599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3813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这份日志证明什么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9224" y="4069080"/>
            <a:ext cx="784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逐片双验：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先比字节数、再比 sha256，两关都过才记「✓」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断点续传 + 跨分片并发：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w* worker 与 mon 并行，03:04→03:51 共 47 分钟完成 51.75 GiB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终态可判：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末行「全部 18 个分片就位，monitor 退出」——逐片校验后的显式终态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证据③ 服务器日志原文：起服自证（回读 /v1/models）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3 — _q38_serve.log (SERVED-MODEL SELF-CHECK)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3_起服自证日志_1600x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50292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170432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171346"/>
            <a:ext cx="50292" cy="219273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43016" y="1280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关键三问，日志逐一回答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43016" y="1554480"/>
            <a:ext cx="2889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起的哪个模型？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回读 /v1/models ⇒ id=qwen38-27b、root=models/Qwen3.8-27B（★防「起错模型」）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权重齐不齐？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 18｜缺失 0｜合计 51.75 GiB｜权重条目 1199（本地校验，不联网）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架构认不认？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架构登记 Qwen3_5ForConditionalGeneration: True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3465576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3465576"/>
            <a:ext cx="7808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该文件末尾还写明了「下一步」：① 20 条冒烟 → ② 过闸后全量 4587 条非序数 → 装配（锚 ord 689 / 非序数 3741）——与最终交付件的桶分布完全对应。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证据④ vLLM 起服参数（毫秒级时间戳）与服务器目录统计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4 — vLLM ARGS &amp; SERVER DIRECTORY STATS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4_vLLM起服参数_1600x4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152144"/>
            <a:ext cx="5486400" cy="1607515"/>
          </a:xfrm>
          <a:prstGeom prst="rect">
            <a:avLst/>
          </a:prstGeom>
        </p:spPr>
      </p:pic>
      <p:pic>
        <p:nvPicPr>
          <p:cNvPr id="7" name="Image 1" descr="d:/Desktop/2026AiC/答辩材料/AIC-2026-14375345-熬夜炼丹师-复赛-沈嘉宝/AIC-2026-14375345-代码与数据/远端现场证据/服务器取证/附图/e5_目录统计与目检图时间戳_1600x4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71216"/>
            <a:ext cx="5486400" cy="1687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5902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 cu130 + 单卡 96GB 现场实例（TP=1）；交付件阶段为 A100-40G 双卡（TP=2），两台实例不同，已在包内说明。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判据预登记：把判据写在结果之前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PRE-REGISTERED CRITERIA (BEFORE THE RUN)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3697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17 份预登记件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" y="1819656"/>
            <a:ext cx="3584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作用域 / 闸门阈值 / 事前预期 / 止损线，全部写进文件后才开跑；禁止事后调阈值。另附冻结稿（D4A4BC35…）与跑后实录（56176E7A…）。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325880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326794"/>
            <a:ext cx="50292" cy="136977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★ 交付件路线的预登记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28616" y="1819656"/>
            <a:ext cx="3584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《_prereg_I.md》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（SHA256 28D2F255…）事前明写：迁移条件只满足一半、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「不给正数、可能为负」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、不是到 0.8 的路径，并预设止损线。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62072"/>
            <a:ext cx="8321040" cy="1316736"/>
          </a:xfrm>
          <a:prstGeom prst="roundRect">
            <a:avLst>
              <a:gd name="adj" fmla="val 4167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62986"/>
            <a:ext cx="50292" cy="1314907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08376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实测推翻了自己的判断 —— 这是转载或事后编造不可能具有的痕迹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512" y="3374136"/>
            <a:ext cx="78089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预登记预期　</a:t>
            </a:r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「不给正数，可能为负」</a:t>
            </a:r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→　实测结果　</a:t>
            </a:r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519 处替换、净 +101 条（19.4%，8.8σ）</a:t>
            </a:r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⇒ 本队如实记入跑后实录，不修改冻结稿原文；另有「被撤回的两版说法」一并留档（见 技术报告素材_方法学结论.md）。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证据⑤ 开发会话时间戳（AI 协作留痕）+ 三路时间线交叉印证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5 — SESSION TIMESTAMPS × ARTIFACT MTIMES × SERVER MTIMES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6_开发会话时间线_1600x4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52144"/>
            <a:ext cx="7863840" cy="23207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593592"/>
            <a:ext cx="8321040" cy="1005840"/>
          </a:xfrm>
          <a:prstGeom prst="roundRect">
            <a:avLst>
              <a:gd name="adj" fmla="val 5455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594506"/>
            <a:ext cx="50292" cy="100401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3666744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三路时间线互相咬合（会话时间 → 产物落地时间）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" y="3922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09-27 16:33 会话「32B 推理进度 + 装配审计」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73752" y="392277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93208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result_semi_n32_ordbase.zip　09-27 16:51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9224" y="4142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10-03 12:41 会话「32B 推理实时进度」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73752" y="414223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93208" y="4142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result_semi_n32bf16_nonord.zip　10-03 14:13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9224" y="43616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10-03 15:24 会话「决定用 Qwen3.8-27B 全量推理」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73752" y="436168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93208" y="4361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qwen38_direct.json ＋ ★交付件　10-03 21:04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1480" y="457200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会话记录完整 36 条（08-30 → 10-06，15 个日期）随包：远端现场证据/服务器取证/开发会话时间线_完整36条.txt（已脱敏）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云端现场证据：环境自建 · 模型自下 · 闸门自跑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ON-SITE EVIDENCE FROM THE CLOUD INSTANCE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13202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环境构建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84248" y="1463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q38_env.log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" y="178308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registry 登记 Qwen3_5ForConditionalGeneration（架构总数 365）；torch 2.11.0+cu130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6794"/>
            <a:ext cx="50292" cy="1132027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权重下载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81928" y="1463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q38_dl.log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46904" y="178308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个分片逐片「大小 + sha256 双验通过」，末行「全部 18 个分片就位」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06954"/>
            <a:ext cx="50292" cy="113202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起服自证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984248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_q38_serve.log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" y="306324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就绪后回读 /v1/models ⇒ id=qwen38-27b、root=models/Qwen3.8-27B（防起错模型）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06954"/>
            <a:ext cx="50292" cy="1132027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闸门 G2/G3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81928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_q38_gate20.json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46904" y="306324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条冒烟可解析 17/20 通过；G3 人眼判据 4×5 目检拼版图随包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90448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904488"/>
            <a:ext cx="7808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运维脚本归档 246 个　</a:t>
            </a:r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_get_serve_q38.sh、_q38_gate.py、_launch_q38.sh 等 6 个脚本的 SHA256 在「工作区归档 = 43504 实例 = 本包」三处逐位相同 ⇒ 同一套自研工具链。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可复算性：最硬的一条 —— 交付件可被离线逐条重建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REPRODUCIBILITY WITHOUT GPU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1133856"/>
          </a:xfrm>
          <a:prstGeom prst="roundRect">
            <a:avLst>
              <a:gd name="adj" fmla="val 4839"/>
            </a:avLst>
          </a:prstGeom>
          <a:solidFill>
            <a:srgbClr val="0B202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132027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53896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code/_assembly_32b.py --direct _qwen38_direct.json \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1691640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--base result_semi_n32bf16_nonord --base-score 0.7786 \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1929384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--ord-correct 689 --base-correct 3741 --stem result_semi_q38_nonord --zip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185416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仅需标准库 + numpy；无需 GPU（推理段无随机性 ⇒ 装配与校验完全确定）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六桶互斥装配（合计 4587 ✓；序数层 1103/1103 逐位不动）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无框 → 保留基线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2944368"/>
            <a:ext cx="360136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5904" y="2898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329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面积&gt;0.35 → 保留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06040" y="3383280"/>
            <a:ext cx="224028" cy="292608"/>
          </a:xfrm>
          <a:prstGeom prst="roundRect">
            <a:avLst>
              <a:gd name="adj" fmla="val 12245"/>
            </a:avLst>
          </a:prstGeom>
          <a:solidFill>
            <a:srgbClr val="5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9796" y="3337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728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776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与基线一致 → 不动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3822192"/>
            <a:ext cx="2327468" cy="292608"/>
          </a:xfrm>
          <a:prstGeom prst="roundRect">
            <a:avLst>
              <a:gd name="adj" fmla="val 9375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3236" y="37764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3639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215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★改动 → 采纳新框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4261104"/>
            <a:ext cx="473065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8833" y="42153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32120" y="2953512"/>
            <a:ext cx="3200400" cy="1645920"/>
          </a:xfrm>
          <a:prstGeom prst="roundRect">
            <a:avLst>
              <a:gd name="adj" fmla="val 3333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2954426"/>
            <a:ext cx="50292" cy="164409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51576" y="3099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实测结论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51576" y="341071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产物与交付件 JSON 逐条完全一致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5690 条的 bbox 与非 bbox 字段差异均为 0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装配器附 8 组受控夹具 / 20 项硬断言，回归全过（code/_test_assembly.py）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同源核验：远端实例 ⇄ 本包，逐位一致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SAME-SOURCE CHECK — INSTANCE vs PACKAGE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44168"/>
          <a:ext cx="83210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远端 SHA256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本包 SHA256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dataset/queries/queries.json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717d15a1…95c4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717D15A1…95C4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_ordinal_cores_r2.json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cfba587d…80c2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CFBA587D…80C2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…/27B/config.json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191e0af2…3aab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191E0AF2…3AAB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…/27B/tokenizer.json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0997f410…b9f3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0997F410…B9F3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…/27B/model.safetensors.index.json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77042094…b9df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77042094…B9DF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447288"/>
            <a:ext cx="8321040" cy="1024128"/>
          </a:xfrm>
          <a:prstGeom prst="roundRect">
            <a:avLst>
              <a:gd name="adj" fmla="val 5357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448202"/>
            <a:ext cx="50292" cy="102229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5753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权重指纹与数据指纹同时一致 ⇒ 本队用的是同一份权重、同一份数据集、同一份作用域词表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" y="3904488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模型文件/model_sha256.txt 列出 Qwen3.8-27B 全部 18 分片 + 3 个关键文件的 SHA256，可用 download_models.py --verify 逐文件校验。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数据核验与改动面复核：把「复核」做到可复算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&amp; CHANGE-SURFACE VERIFICATION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9125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5690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官方查询条数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26794"/>
            <a:ext cx="50292" cy="9125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1295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32888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被引用图数/模态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326794"/>
            <a:ext cx="50292" cy="91257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54296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缺失图像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1326794"/>
            <a:ext cx="50292" cy="91257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75704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真分歧条数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386584"/>
            <a:ext cx="40416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387498"/>
            <a:ext cx="50292" cy="129661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两个格式子群（赛题文档只写了一个）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" y="28437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1198 张 .png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：1920×1080，深度 I;16 uint16（毫米 0–19999）
</a:t>
            </a:r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张 .jpg（7.5%）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：640×360，深度为 RGB 三通道逐像素相同 ⇒ 实为 8 位灰度；直通原值不缩放（避免 7.5% 整批失败）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90872" y="2386584"/>
            <a:ext cx="4041648" cy="1298448"/>
          </a:xfrm>
          <a:prstGeom prst="roundRect">
            <a:avLst>
              <a:gd name="adj" fmla="val 4225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387498"/>
            <a:ext cx="50292" cy="129661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改动面可视化（随包两张拼版）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28616" y="28437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交付件 vs 0.7786 底座：真分歧 519（IoU&lt;0.5 独立复算）；抽样 20 张 changed 100% 落在 519 集合内，kept 与集合交集 0；重渲染 qid 逐一相同 ⇒ 拼版可重放。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消融与失败路线：负结果同样是证据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ABLATIONS &amp; REJECTED ROUTES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28016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序数层 32B SoM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跨机制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0.7729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−7（≈6σ）→ 止损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深度序数轴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换排序键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−23.1%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 候选池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换候选来源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0.7566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−18.6%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VLX-Seek 替换非序数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换模型家族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−156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打包复现对方规格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三模态合并图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0.7439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−298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813048"/>
            <a:ext cx="8321040" cy="859536"/>
          </a:xfrm>
          <a:prstGeom prst="roundRect">
            <a:avLst>
              <a:gd name="adj" fmla="val 6383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813962"/>
            <a:ext cx="50292" cy="857707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94106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机制判据（本队自研）：可迁移的不是规则文本，而是「被替换那一层的性质」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4242816"/>
            <a:ext cx="7808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跨机制替换在本项目 5/5 全负（SoM / VLX / GD / 深度轴 / 打包复现）；同机制 direct→direct 四次全正（+82 / +14 / +11 / +101）。该判据由实测建立，并被后续每一件独立验证。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反证与排除：主动回答五类质疑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PRE-EMPTING FIVE OBJECTIONS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3990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结果是别人做的 / 转载的？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6367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平台提交谱系含本队账号逐次得分（含被否件）；预登记件写于结果之前且含「事前判错」痕迹；全套被否路线在档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94306"/>
            <a:ext cx="50292" cy="601675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2066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结果是手工标注的？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赛事禁止手工标注；每处改动都由 _qwen38_direct.json 经确定性装配器产生，而该产物来自 4587 条真实推理，并附起服日志与闸门产物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660904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61818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27340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打包了别人的代码？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code/ 为完整自研链路（32 链脚本 + 11 远端起服脚本 + 8 训练脚手架）；判据唯一实现在 _fuse_qwen.py；远端原件与随包副本差异仅在「路径可移植化」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328416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29330"/>
            <a:ext cx="50292" cy="601675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40156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数据是造出来的？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639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queries.json 与远端、初赛口径逐位一致；图像为赛事官方提供，本队仅按官方 queries.json 路径读取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995928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996842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4069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用了闭源在线 API？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43068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全部开源模型本地/私有云部署；env_record.txt 给出完整 pip freeze 与 vllm serve 命令行；技术报告与 README 合规声明一致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核验 SOP：五条命令，评审可当场复算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 SOP — RUN IT YOURSELF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52852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35608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6696" y="1362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自检/_verify_package.py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89320" y="13624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 14/14 · 硬约束 4/4 · 改动面 519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2115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02996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6696" y="1956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code/_validate_semi.py &lt;结果 zip&gt;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8932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条数 / 键集 / 四字段回显 / bbox 合法性 4/4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1460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51551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262432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" y="2551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code/_test_assembly.py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5511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组夹具 · 20 项断言全过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10987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32186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6696" y="31455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code/_assembly_32b.py --direct _qwen38_direct.json …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932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离线逐条重建，与交付件 JSON 逐条一致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70332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70423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" y="381304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 -hashfile &lt;结果 zip&gt; SHA256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37398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FB6C2E47…8F35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4343400"/>
            <a:ext cx="8321040" cy="384048"/>
          </a:xfrm>
          <a:prstGeom prst="roundRect">
            <a:avLst>
              <a:gd name="adj" fmla="val 11905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43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任一命令不符即说明包被改动或环境不匹配；全部命令均为纯 CPU、仅需标准库（④ 另需 numpy）。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　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结果文件由本队自主产出，链路完整、可复算、可追溯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28546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824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成绩归属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82496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平台提交谱系（复赛 20+ / 初赛 12 次）逐版留得分与 SHA256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41778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9572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可复算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395728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离线逐条重建交付件，产物与提交件 JSON 完全一致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54096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55010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10896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自主性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108960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判据预登记 17 份 + 云端现场证据 + 权重指纹 + 消融复盘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68242"/>
            <a:ext cx="45720" cy="601675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22192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00A89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合规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3822192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全开源模型、本地/私有云部署、仅用官方测试集、无人工标注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4302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复现边界（如实说明）：离线段可逐字节重建；推理段因浮点归约顺序随硬件/驱动/库版本变化，不保证逐字节相同 —— 故记录实测环境而非断言可无限复现。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3291840"/>
            <a:ext cx="1737360" cy="1737360"/>
          </a:xfrm>
          <a:prstGeom prst="ellipse">
            <a:avLst/>
          </a:prstGeom>
          <a:solidFill>
            <a:srgbClr val="123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91440"/>
            <a:ext cx="1554480" cy="1554480"/>
          </a:xfrm>
          <a:prstGeom prst="ellipse">
            <a:avLst/>
          </a:prstGeom>
          <a:solidFill>
            <a:srgbClr val="103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恳请各位评委老师批评指正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615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AIC-2026-14375345　｜　熬夜炼丹师　｜　队长 沈嘉宝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3127248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0E3A44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31272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交付件 SHA256　FB6C2E47…8F35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AIC-2026-14375345 自证链路</dc:title>
  <dc:subject>PptxGenJS Presentation</dc:subject>
  <dc:creator>AIC-2026-14375345 熬夜炼丹师</dc:creator>
  <cp:lastModifiedBy>AIC-2026-14375345 熬夜炼丹师</cp:lastModifiedBy>
  <cp:revision>1</cp:revision>
  <dcterms:created xsi:type="dcterms:W3CDTF">2026-10-15T04:28:59Z</dcterms:created>
  <dcterms:modified xsi:type="dcterms:W3CDTF">2026-10-15T04:28:59Z</dcterms:modified>
</cp:coreProperties>
</file>